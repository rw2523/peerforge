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demo, not the slide. Upload a paper, run three turns, let them watch the reviewers disagree.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Supervisors are stretched. Examiners see the work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lands. Everyone in the room has seen this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Citations are verified against the document — not against plausibility.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These are the numbers that separate this from a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real certificate verifying. Then change the evidence and show it report SUPERSEDED — authentic but stale, not forged.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Seats reserved at invitation time means a department knows its committed spend before anyone accepts.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moat is not the prompt. It is the eleven rules and the measurement harness — each written after observing a specific failure in real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this slide. It is why the rest is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split matters: Now is demonstrable, Next is scoped, Later is honest about being unscoped.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for your audience: capital, a pilot department, or a design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57400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PeerForge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8580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the panel before the panel faces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39776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peer-review panel that argues about your research — and checks its own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0" y="2148840"/>
            <a:ext cx="1371600" cy="137160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2148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Serious criticism arrives too late to act 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8379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44168" y="17830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— </a:t>
            </a:r>
            <a:pPr indent="0" marL="0">
              <a:buNone/>
            </a:pPr>
            <a:r>
              <a:rPr lang="en-US" sz="1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supervisor comments. Months for reviewer reports.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88950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28346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then — </a:t>
            </a:r>
            <a:pPr indent="0" marL="0">
              <a:buNone/>
            </a:pPr>
            <a:r>
              <a:rPr lang="en-US" sz="1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is fixed, the data collected, the flaw unfixable.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94106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44168" y="38862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useful sentence — </a:t>
            </a:r>
            <a:pPr indent="0" marL="0">
              <a:buNone/>
            </a:pPr>
            <a:r>
              <a:rPr lang="en-US" sz="1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cannot claim causation with this allocation procedure” — lands after it is any use.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between “I think it’s ready” and “the panel thinks it’s ready” is where viva failures and desk rejections live.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FIX FAILS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 general AI, and it invents the evidence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789920" cy="1600200"/>
          </a:xfrm>
          <a:prstGeom prst="roundRect">
            <a:avLst>
              <a:gd name="adj" fmla="val 4571"/>
            </a:avLst>
          </a:prstGeom>
          <a:solidFill>
            <a:srgbClr val="FBF0EF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B2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is a well-structured study. Consider expanding the literature review. As noted in Section 2.3 on page 12, the sampling approach…”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has no Section 2.3. It has no page 12.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4297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five models at one paper and it gets worse: within two rounds you have one opinion restated five times, everyone agreeing, and confident citations to nothing.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panel, not an assistant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352800" cy="1965960"/>
          </a:xfrm>
          <a:prstGeom prst="roundRect">
            <a:avLst>
              <a:gd name="adj" fmla="val 3721"/>
            </a:avLst>
          </a:prstGeom>
          <a:solidFill>
            <a:srgbClr val="EDF3FD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542032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280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Allocation, power, controls, validity threats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4360" y="1737360"/>
            <a:ext cx="3352800" cy="1965960"/>
          </a:xfrm>
          <a:prstGeom prst="roundRect">
            <a:avLst>
              <a:gd name="adj" fmla="val 3721"/>
            </a:avLst>
          </a:prstGeom>
          <a:solidFill>
            <a:srgbClr val="EDF3FD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86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7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78680" y="2542032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expert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78680" y="3017520"/>
            <a:ext cx="280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validity, related work, novelty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2920" y="1737360"/>
            <a:ext cx="3352800" cy="1965960"/>
          </a:xfrm>
          <a:prstGeom prst="roundRect">
            <a:avLst>
              <a:gd name="adj" fmla="val 3721"/>
            </a:avLst>
          </a:prstGeom>
          <a:solidFill>
            <a:srgbClr val="EDF3FD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72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9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7240" y="2542032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examiner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97240" y="3017520"/>
            <a:ext cx="280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publishable — and what must change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069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read your document, research the literature, prepare privately, then disagree with each other in front of you.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484632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48463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the part nobody else does:  it checks itself.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integrity rules, every turn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 ·  deference  ·  self-contradiction  ·  role drift  ·  generic filler  ·  fabricated citations  ·  contradicted citations  ·  session meta-commentary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force regeneration. The retry is re-checked — a retry that fixes one problem and introduces another is still a failure.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063240"/>
          <a:ext cx="107899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583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document uploaded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page reference is fabrication → stripped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uploaded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Cited sections checked against what it actually contains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9 of a 4-section 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2.1 that genuinely exists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untouched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(McKay et al., 2018)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flagged — a reviewer may know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before and after</a:t>
            </a:r>
            <a:endParaRPr lang="en-US" sz="3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37360"/>
          <a:ext cx="1078992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2377440"/>
                <a:gridCol w="2377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2B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5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Fabricated citations reaching the transcript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7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Contradicted citations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7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restatement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7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Reviewers opening by deferring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7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 sources actually cited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7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489204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EDF3FD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489204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fabrication test was adversarial: </a:t>
            </a:r>
            <a:pPr indent="0" marL="0">
              <a:buNone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reviewers explicitly instructed to cite pages, sections, tables and figures in every paragraph, on a session with no document at all. Zero got through.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researcher walks away with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07592" y="1691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43400" y="1691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as it happened, reviewer by reviewer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6609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07592" y="25877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43400" y="25877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real transcript — refuses to summarise a session that did not happen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5570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07592" y="34838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defence questions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348386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tied to the excerpt from your document that prompted it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453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07592" y="43799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assessment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437997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scored dimensions, with a stated basis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53492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07592" y="5276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 certificate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43400" y="527608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verifiable, hash-bound to its evidence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pain, institutional budget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352800" cy="2194560"/>
          </a:xfrm>
          <a:prstGeom prst="roundRect">
            <a:avLst>
              <a:gd name="adj" fmla="val 3333"/>
            </a:avLst>
          </a:prstGeom>
          <a:solidFill>
            <a:srgbClr val="EDF3FD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542032"/>
            <a:ext cx="280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Doctoral candidates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3145536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viva is a single high-stakes event with almost no rehearsal available.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4360" y="1737360"/>
            <a:ext cx="3352800" cy="2194560"/>
          </a:xfrm>
          <a:prstGeom prst="roundRect">
            <a:avLst>
              <a:gd name="adj" fmla="val 3333"/>
            </a:avLst>
          </a:prstGeom>
          <a:solidFill>
            <a:srgbClr val="EDF3FD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86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7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78680" y="2542032"/>
            <a:ext cx="280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Researchers pre-submission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78680" y="3145536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rejection is common at selective venues — much of it for reasons a panel names in ten minutes.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2920" y="1737360"/>
            <a:ext cx="3352800" cy="2194560"/>
          </a:xfrm>
          <a:prstGeom prst="roundRect">
            <a:avLst>
              <a:gd name="adj" fmla="val 3333"/>
            </a:avLst>
          </a:prstGeom>
          <a:solidFill>
            <a:srgbClr val="EDF3FD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72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9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7240" y="2542032"/>
            <a:ext cx="280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Departments &amp; graduate schools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97240" y="3145536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roles, seats and invitations are built in. A department buys seats; professors run courses.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20624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DF4E3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42062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figures are placeholders. </a:t>
            </a:r>
            <a:pPr indent="0" marL="0">
              <a:buNone/>
            </a:pPr>
            <a:r>
              <a:rPr lang="en-US" sz="13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number in this deck was measured against a running instance; these were not. Source them before presenting.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5257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and expand: one supervisor’s cohort → the department → the graduate school.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seats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0574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per billable student seat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8803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seats are free. Seats are reserved at invitation time, so a department knows its committed spend before anyone accepts.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working today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and courses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two membership scopes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and bulk invitation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accounting with pending reservations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progress views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480060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EDF3FD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80060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institution tier is not a roadmap item — it is running in the demo today.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DEFENSIBLE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AI review tools are a prompt. This is a system.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07592" y="1737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Three-stage pipeline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26280" y="1737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reasoning, visible response, validation — a reviewer works out what is uniquely theirs to say before saying 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6243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07592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 before speaking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26280" y="257860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memo per reviewer, with the outside literature they consulted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4655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07592" y="34198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assurance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26280" y="341985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id is a hash of scores and ordered evidence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3068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07592" y="42611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26280" y="426110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chunk a claim rests on, sha256 re-verified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21208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EDF3FD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52120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 API operations   ·   39 tables   ·   440 backend tests   ·   ~53,000 lines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NOT WORK YET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limits, stated plainly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DF4E3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9280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citations are not verified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5856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391 of 398 chunks in a real database carry no page number; checking pages would reject legitimate citations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92608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DF4E3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03580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Differentiation degrades by round two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0156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short papers with few distinct flaws. The gates catch it; the fix is partial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06908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DF4E3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417880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 packs cite 3 of 5 sources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54456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all five in produces padding rather than argument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394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publish these in the product documentation, with numbers. A tool that tells you it is uncertain is worth more than one that is confidently wrong.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52800" cy="2331720"/>
          </a:xfrm>
          <a:prstGeom prst="roundRect">
            <a:avLst>
              <a:gd name="adj" fmla="val 3137"/>
            </a:avLst>
          </a:prstGeom>
          <a:solidFill>
            <a:srgbClr val="EDF3FD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33528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335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578608"/>
            <a:ext cx="280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panel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enforcement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certificates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tier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4360" y="1783080"/>
            <a:ext cx="3352800" cy="2331720"/>
          </a:xfrm>
          <a:prstGeom prst="roundRect">
            <a:avLst>
              <a:gd name="adj" fmla="val 3137"/>
            </a:avLst>
          </a:prstGeom>
          <a:solidFill>
            <a:srgbClr val="EDF3FD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4360" y="1783080"/>
            <a:ext cx="3352800" cy="640080"/>
          </a:xfrm>
          <a:prstGeom prst="roundRect">
            <a:avLst>
              <a:gd name="adj" fmla="val 11429"/>
            </a:avLst>
          </a:prstGeom>
          <a:solidFill>
            <a:srgbClr val="2E5A8C"/>
          </a:solidFill>
          <a:ln/>
        </p:spPr>
      </p:sp>
      <p:sp>
        <p:nvSpPr>
          <p:cNvPr id="10" name="Text 8"/>
          <p:cNvSpPr/>
          <p:nvPr/>
        </p:nvSpPr>
        <p:spPr>
          <a:xfrm>
            <a:off x="4404360" y="1783080"/>
            <a:ext cx="335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78680" y="2578608"/>
            <a:ext cx="280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structure at ingest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page/section verification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past round two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2920" y="1783080"/>
            <a:ext cx="3352800" cy="2331720"/>
          </a:xfrm>
          <a:prstGeom prst="roundRect">
            <a:avLst>
              <a:gd name="adj" fmla="val 3137"/>
            </a:avLst>
          </a:prstGeom>
          <a:solidFill>
            <a:srgbClr val="EDF3FD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2920" y="1783080"/>
            <a:ext cx="3352800" cy="640080"/>
          </a:xfrm>
          <a:prstGeom prst="roundRect">
            <a:avLst>
              <a:gd name="adj" fmla="val 11429"/>
            </a:avLst>
          </a:prstGeom>
          <a:solidFill>
            <a:srgbClr val="6E8BB5"/>
          </a:solidFill>
          <a:ln/>
        </p:spPr>
      </p:sp>
      <p:sp>
        <p:nvSpPr>
          <p:cNvPr id="14" name="Text 12"/>
          <p:cNvSpPr/>
          <p:nvPr/>
        </p:nvSpPr>
        <p:spPr>
          <a:xfrm>
            <a:off x="8122920" y="1783080"/>
            <a:ext cx="335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97240" y="2578608"/>
            <a:ext cx="280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cohort readiness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calibration against real examiner outcomes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48056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4805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under “Now” is running in the demo today — not a roadmap promise.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supervisor. One cohort. One term.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78992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19050" dir="5400000">
              <a:srgbClr val="9AA5B5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92024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 whether students who rehearse with a panel answer their examiners better than students who do not.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run it: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4663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willing to pilot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cohort with vivas this year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outcomes, so the claim is testable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researcher eventually faces a panel that has read their work carefully and is not being kind about it.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3291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reason that should be the first time.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43434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sessions across ten fields, each paper carrying real planted flaws — unconcealed allocation, missing controls, thresholds tuned on the reported data, train/test leakage.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5212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whether the panel finds them.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PeerForge — Pitch Deck</dc:title>
  <dc:subject>PptxGenJS Presentation</dc:subject>
  <dc:creator>PeerForge</dc:creator>
  <cp:lastModifiedBy>PeerForge</cp:lastModifiedBy>
  <cp:revision>1</cp:revision>
  <dcterms:created xsi:type="dcterms:W3CDTF">2026-08-13T19:41:53Z</dcterms:created>
  <dcterms:modified xsi:type="dcterms:W3CDTF">2026-08-13T19:41:53Z</dcterms:modified>
</cp:coreProperties>
</file>